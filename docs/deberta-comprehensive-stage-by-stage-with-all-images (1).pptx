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0" r:id="rId6"/>
    <p:sldId id="265" r:id="rId7"/>
    <p:sldId id="259" r:id="rId8"/>
    <p:sldId id="266" r:id="rId9"/>
    <p:sldId id="261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67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Aleman" userId="f48b76131be124a7" providerId="LiveId" clId="{F4104F06-0A87-46F3-8B7A-CA95F65F282A}"/>
    <pc:docChg chg="modSld">
      <pc:chgData name="Ruben Aleman" userId="f48b76131be124a7" providerId="LiveId" clId="{F4104F06-0A87-46F3-8B7A-CA95F65F282A}" dt="2025-11-20T21:15:27.313" v="6" actId="14100"/>
      <pc:docMkLst>
        <pc:docMk/>
      </pc:docMkLst>
      <pc:sldChg chg="modSp mod">
        <pc:chgData name="Ruben Aleman" userId="f48b76131be124a7" providerId="LiveId" clId="{F4104F06-0A87-46F3-8B7A-CA95F65F282A}" dt="2025-11-20T21:15:12.057" v="3" actId="14100"/>
        <pc:sldMkLst>
          <pc:docMk/>
          <pc:sldMk cId="0" sldId="260"/>
        </pc:sldMkLst>
        <pc:picChg chg="mod">
          <ac:chgData name="Ruben Aleman" userId="f48b76131be124a7" providerId="LiveId" clId="{F4104F06-0A87-46F3-8B7A-CA95F65F282A}" dt="2025-11-20T21:15:12.057" v="3" actId="14100"/>
          <ac:picMkLst>
            <pc:docMk/>
            <pc:sldMk cId="0" sldId="260"/>
            <ac:picMk id="4" creationId="{00000000-0000-0000-0000-000000000000}"/>
          </ac:picMkLst>
        </pc:picChg>
        <pc:picChg chg="mod">
          <ac:chgData name="Ruben Aleman" userId="f48b76131be124a7" providerId="LiveId" clId="{F4104F06-0A87-46F3-8B7A-CA95F65F282A}" dt="2025-11-20T21:15:09.428" v="2" actId="1076"/>
          <ac:picMkLst>
            <pc:docMk/>
            <pc:sldMk cId="0" sldId="260"/>
            <ac:picMk id="6" creationId="{00000000-0000-0000-0000-000000000000}"/>
          </ac:picMkLst>
        </pc:picChg>
      </pc:sldChg>
      <pc:sldChg chg="modSp mod">
        <pc:chgData name="Ruben Aleman" userId="f48b76131be124a7" providerId="LiveId" clId="{F4104F06-0A87-46F3-8B7A-CA95F65F282A}" dt="2025-11-20T21:15:27.313" v="6" actId="14100"/>
        <pc:sldMkLst>
          <pc:docMk/>
          <pc:sldMk cId="0" sldId="265"/>
        </pc:sldMkLst>
        <pc:picChg chg="mod">
          <ac:chgData name="Ruben Aleman" userId="f48b76131be124a7" providerId="LiveId" clId="{F4104F06-0A87-46F3-8B7A-CA95F65F282A}" dt="2025-11-20T21:15:27.313" v="6" actId="14100"/>
          <ac:picMkLst>
            <pc:docMk/>
            <pc:sldMk cId="0" sldId="265"/>
            <ac:picMk id="4" creationId="{00000000-0000-0000-0000-000000000000}"/>
          </ac:picMkLst>
        </pc:picChg>
        <pc:picChg chg="mod">
          <ac:chgData name="Ruben Aleman" userId="f48b76131be124a7" providerId="LiveId" clId="{F4104F06-0A87-46F3-8B7A-CA95F65F282A}" dt="2025-11-20T21:15:21.906" v="4" actId="14100"/>
          <ac:picMkLst>
            <pc:docMk/>
            <pc:sldMk cId="0" sldId="265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image" Target="../media/image3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image" Target="../media/image5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9144000" cy="1336432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Fine-Tuning </a:t>
            </a:r>
            <a:r>
              <a:rPr dirty="0" err="1"/>
              <a:t>DeBERTa</a:t>
            </a:r>
            <a:r>
              <a:rPr dirty="0"/>
              <a:t> for Prompt Injection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7104" y="2106637"/>
            <a:ext cx="80097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Multi-stage training pipeline using Hugging Face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Objective: Classify text as Safe (0) or Unsafe (1)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Evaluated on unseen test data for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0246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Training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3431" y="1280160"/>
            <a:ext cx="88274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Model: </a:t>
            </a:r>
            <a:r>
              <a:rPr dirty="0" err="1"/>
              <a:t>ProtectAI</a:t>
            </a:r>
            <a:r>
              <a:rPr dirty="0"/>
              <a:t>/deberta-v3-base-prompt-injection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Tokenizer: Hugging Face </a:t>
            </a:r>
            <a:r>
              <a:rPr dirty="0" err="1"/>
              <a:t>AutoTokenizer</a:t>
            </a:r>
            <a:endParaRPr dirty="0"/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Training strategy: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• Early stopping (patience = 3)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• Best checkpoint based on validation accuracy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Evaluation metrics: Accuracy, Precision, Recall, F1-Score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72662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Datasets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554" y="1535137"/>
            <a:ext cx="790428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1: Safe-Guard Prompt Injection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2: SPML Chatbot Prompt Injection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3: NVIDIA Aegis AI Content Safety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Dataset includes predefined train / validation /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1308" y="1280160"/>
            <a:ext cx="774602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1: Fine-tuning on Safe-Guard dataset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2: Continued training with SPML dataset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Stage 3: Final training on NVIDIA dataset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Evaluation: NVIDIA 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Stage 1 Comprehensive Results</a:t>
            </a:r>
          </a:p>
        </p:txBody>
      </p:sp>
      <p:sp>
        <p:nvSpPr>
          <p:cNvPr id="3" name="Stage1 Details"/>
          <p:cNvSpPr txBox="1"/>
          <p:nvPr/>
        </p:nvSpPr>
        <p:spPr>
          <a:xfrm>
            <a:off x="281354" y="1058000"/>
            <a:ext cx="4000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35F"/>
                </a:solidFill>
              </a:defRPr>
            </a:pPr>
            <a:r>
              <a:rPr sz="2000" dirty="0"/>
              <a:t>Dataset: Safe-Guard Prompt Injection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sz="2000" dirty="0"/>
              <a:t>Training Results: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Epochs Completed: 7 out of 10 (early stopped)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Final Validation Accuracy: 99.46%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Final Evaluation Loss: 0.0386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Runtime: 14.9649 seconds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Processing Speed: 137.655 samples/second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Model Checkpoint: deberta-pi-full-stage1-final</a:t>
            </a:r>
          </a:p>
          <a:p>
            <a:pPr>
              <a:defRPr sz="2400" b="1">
                <a:solidFill>
                  <a:srgbClr val="0F235F"/>
                </a:solidFill>
              </a:defRPr>
            </a:pPr>
            <a:r>
              <a:rPr sz="2000" dirty="0"/>
              <a:t>Key Insight: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Excellent convergence on Safe-Guard dataset with rapid learning and minimal training time required</a:t>
            </a:r>
          </a:p>
        </p:txBody>
      </p:sp>
      <p:pic>
        <p:nvPicPr>
          <p:cNvPr id="4" name="Stage1 Training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354" y="1057999"/>
            <a:ext cx="4200000" cy="1798401"/>
          </a:xfrm>
          <a:prstGeom prst="rect">
            <a:avLst/>
          </a:prstGeom>
        </p:spPr>
      </p:pic>
      <p:pic>
        <p:nvPicPr>
          <p:cNvPr id="6" name="Stage1 Terminal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354" y="3225853"/>
            <a:ext cx="4200000" cy="17984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Stage 2 Comprehensive Results</a:t>
            </a:r>
          </a:p>
        </p:txBody>
      </p:sp>
      <p:sp>
        <p:nvSpPr>
          <p:cNvPr id="3" name="Stage2 Details"/>
          <p:cNvSpPr txBox="1"/>
          <p:nvPr/>
        </p:nvSpPr>
        <p:spPr>
          <a:xfrm>
            <a:off x="281354" y="1045691"/>
            <a:ext cx="4000000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35F"/>
                </a:solidFill>
              </a:defRPr>
            </a:pPr>
            <a:r>
              <a:rPr sz="2000" dirty="0"/>
              <a:t>Dataset: SPML Chatbot Prompt Injection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Training Results: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Epochs Completed: 9 out of 15 (early stopped)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Final Validation Accuracy: 96.32%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Final Evaluation Loss: 0.178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Runtime: 11.3414 seconds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Processing Speed: 141.252 samples/second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• Model Checkpoint: deberta-pi-full-stage2-final</a:t>
            </a:r>
          </a:p>
          <a:p>
            <a:pPr>
              <a:defRPr sz="2400" b="1">
                <a:solidFill>
                  <a:srgbClr val="0F235F"/>
                </a:solidFill>
              </a:defRPr>
            </a:pPr>
            <a:r>
              <a:rPr sz="2000" dirty="0"/>
              <a:t>Key Innovation: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Combined System + User prompt preprocessing for chatbot scenarios</a:t>
            </a:r>
          </a:p>
        </p:txBody>
      </p:sp>
      <p:pic>
        <p:nvPicPr>
          <p:cNvPr id="4" name="Stage2 Training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354" y="1045691"/>
            <a:ext cx="4200000" cy="1609586"/>
          </a:xfrm>
          <a:prstGeom prst="rect">
            <a:avLst/>
          </a:prstGeom>
        </p:spPr>
      </p:pic>
      <p:pic>
        <p:nvPicPr>
          <p:cNvPr id="6" name="Stage2 Terminal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630" y="2801600"/>
            <a:ext cx="4200000" cy="1400000"/>
          </a:xfrm>
          <a:prstGeom prst="rect">
            <a:avLst/>
          </a:prstGeom>
        </p:spPr>
      </p:pic>
      <p:sp>
        <p:nvSpPr>
          <p:cNvPr id="5" name="Stage2 Configuration"/>
          <p:cNvSpPr txBox="1"/>
          <p:nvPr/>
        </p:nvSpPr>
        <p:spPr>
          <a:xfrm>
            <a:off x="4451630" y="4445200"/>
            <a:ext cx="43929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35F"/>
                </a:solidFill>
              </a:defRPr>
            </a:pPr>
            <a:r>
              <a:rPr dirty="0"/>
              <a:t>Progressive Training Approach: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Continued training from Stage 1 model | Same hyperparameters | Maintained knowledge while adapting to chatbot format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Stage 3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823" y="1280160"/>
            <a:ext cx="83263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Dataset: NVIDIA Aegis AI Content Safety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Train split → Val split → Test split (no leakage)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Results: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Accuracy: 81.2%     F1-Score: 83.1%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Insight: Domain-specific training greatly improved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Stage 3 Comprehensive Results</a:t>
            </a:r>
          </a:p>
        </p:txBody>
      </p:sp>
      <p:sp>
        <p:nvSpPr>
          <p:cNvPr id="3" name="Stage3 Details"/>
          <p:cNvSpPr txBox="1"/>
          <p:nvPr/>
        </p:nvSpPr>
        <p:spPr>
          <a:xfrm>
            <a:off x="281354" y="998806"/>
            <a:ext cx="4000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35F"/>
                </a:solidFill>
              </a:defRPr>
            </a:pPr>
            <a:r>
              <a:rPr sz="2000" dirty="0"/>
              <a:t>Dataset: NVIDIA Aegis AI Content Safety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sz="2000" dirty="0"/>
              <a:t>Training Results: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Epochs Completed: 5 out of 25 (early stopped)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Final Validation Accuracy: 82.28%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Final Evaluation Loss: 0.477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Runtime: 13.4865 seconds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Processing Speed: 145.627 samples/second</a:t>
            </a:r>
          </a:p>
          <a:p>
            <a:pPr>
              <a:defRPr sz="2400" b="1">
                <a:solidFill>
                  <a:srgbClr val="0F235F"/>
                </a:solidFill>
              </a:defRPr>
            </a:pPr>
            <a:r>
              <a:rPr sz="2000" dirty="0"/>
              <a:t>Final Test Results: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Test Accuracy: 81.21% (1,964 samples)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Precision: 80.59% | Recall: 85.84%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sz="2000" dirty="0"/>
              <a:t>• F1-Score: 83.13%</a:t>
            </a:r>
          </a:p>
        </p:txBody>
      </p:sp>
      <p:pic>
        <p:nvPicPr>
          <p:cNvPr id="4" name="Stage3 Training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0" y="1280160"/>
            <a:ext cx="4200000" cy="1300000"/>
          </a:xfrm>
          <a:prstGeom prst="rect">
            <a:avLst/>
          </a:prstGeom>
        </p:spPr>
      </p:pic>
      <p:pic>
        <p:nvPicPr>
          <p:cNvPr id="6" name="Stage3 Training Outp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000" y="2700000"/>
            <a:ext cx="4200000" cy="900000"/>
          </a:xfrm>
          <a:prstGeom prst="rect">
            <a:avLst/>
          </a:prstGeom>
        </p:spPr>
      </p:pic>
      <p:pic>
        <p:nvPicPr>
          <p:cNvPr id="7" name="Stage3 Evaluation 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000" y="3700000"/>
            <a:ext cx="4200000" cy="900000"/>
          </a:xfrm>
          <a:prstGeom prst="rect">
            <a:avLst/>
          </a:prstGeom>
        </p:spPr>
      </p:pic>
      <p:sp>
        <p:nvSpPr>
          <p:cNvPr id="5" name="Critical Achievement"/>
          <p:cNvSpPr txBox="1"/>
          <p:nvPr/>
        </p:nvSpPr>
        <p:spPr>
          <a:xfrm>
            <a:off x="4510453" y="4774785"/>
            <a:ext cx="471267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35F"/>
                </a:solidFill>
              </a:defRPr>
            </a:pPr>
            <a:r>
              <a:rPr dirty="0"/>
              <a:t>Critical Achievement - Domain Adaptation Success: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rPr dirty="0"/>
              <a:t>Model Checkpoint: deberta-pi-full-stage3-final | Proper train/val/test split respected | No data leakage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Evaluation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9085" y="1280160"/>
            <a:ext cx="781636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Concern: Was the model trained on the test set?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Clarification: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NVIDIA dataset includes train / </a:t>
            </a:r>
            <a:r>
              <a:rPr dirty="0" err="1"/>
              <a:t>val</a:t>
            </a:r>
            <a:r>
              <a:rPr dirty="0"/>
              <a:t> / test splits.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Training respected splits → no data leakage.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rPr dirty="0"/>
              <a:t>Reported test accuracy is valid and reliable.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2031" y="1280160"/>
            <a:ext cx="837906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>
                <a:solidFill>
                  <a:srgbClr val="282828"/>
                </a:solidFill>
              </a:defRPr>
            </a:pPr>
            <a:r>
              <a:t>Multi-stage fine-tuning improves robustness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t>Dataset–evaluation alignment is critical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t>Respecting splits ensures fair testing</a:t>
            </a:r>
          </a:p>
          <a:p>
            <a:pPr>
              <a:defRPr sz="3000">
                <a:solidFill>
                  <a:srgbClr val="282828"/>
                </a:solidFill>
              </a:defRPr>
            </a:pPr>
            <a:r>
              <a:t>Final model achieved ~81% accuracy on unseen test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507</Words>
  <Application>Microsoft Office PowerPoint</Application>
  <PresentationFormat>On-screen Show (4:3)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Ruben Aleman</dc:creator>
  <cp:keywords/>
  <dc:description>generated using python-pptx</dc:description>
  <cp:lastModifiedBy>Ruben Aleman</cp:lastModifiedBy>
  <cp:revision>4</cp:revision>
  <dcterms:created xsi:type="dcterms:W3CDTF">2013-01-27T09:14:16Z</dcterms:created>
  <dcterms:modified xsi:type="dcterms:W3CDTF">2025-11-20T21:15:30Z</dcterms:modified>
  <cp:category/>
</cp:coreProperties>
</file>